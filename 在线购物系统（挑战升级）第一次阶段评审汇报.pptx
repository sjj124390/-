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7" r:id="rId19"/>
    <p:sldId id="260" r:id="rId7"/>
    <p:sldId id="261" r:id="rId8"/>
    <p:sldId id="262" r:id="rId9"/>
    <p:sldId id="264" r:id="rId11"/>
    <p:sldId id="263" r:id="rId10"/>
    <p:sldId id="265" r:id="rId12"/>
    <p:sldId id="268" r:id="rId20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5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大家好，我是孙俊杰，今天由我代表我们第10组进行在线购物系统（挑战升级）项目的第一次阶段评审汇报。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本次汇报主要介绍我们第一阶段的工作成果，包括需求分析、业务流程梳理、原型设计和技术方案等内容。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今天的汇报主要分为四个部分：首先介绍项目总体计划和迭代安排，然后说明本次迭代的目标，接着重点展示我们团队的分工和五项核心成果，最后介绍下一步的工作计划。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我们的项目整体规划分为三个迭代周期。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第一个迭代是需求分析与方案设计阶段，也就是我们当前正在进行的阶段，计划1.5周完成。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第二个迭代是功能开发与联调阶段，计划2周完成。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第三个迭代是测试优化与交付阶段，计划1周完成。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目前整体进度约15%，主要完成了前期的需求和设计工作。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本次迭代的目标主要是前期启动工作，不涉及代码开发和测试。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具体包括六个方面：需求调研与梳理、编写需求规格说明书、梳理业务流程、设计产品原型、制定技术方案，以及后续的任务拆解与排期。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整个迭代周期从9月28日到10月7日，共1.5周时间。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我们小组共四个人，分工明确。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我是组长孙俊杰，兼任技术负责人，主要负责技术方案和数据库设计。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朱江是项目经理，负责需求调研和需求规格说明书。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杨接乔负责业务流程梳理和用例分析。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陆贻辉负责产品原型设计和交互说明。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第一项成果物是MVP需求清单与业务规则说明，由朱江负责。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主要明确了四个方面的规则：商品核心规则、用户购买规则、交易冻结规则，以及卖家后台的五项核心功能。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这些规则构成了我们整个项目的业务基础，所有后续设计和开发都围绕这些规则展开。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第二项成果物是正式的需求规格说明书，同样由朱江负责。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这份文档是在需求清单的基础上进一步细化，涵盖了项目概述、功能需求、非功能需求、业务规则和验收标准五个部分。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它是我们后续开发和测试的重要依据，也是验收的标准。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第三项成果物是业务流程与角色用例分析，由杨接乔负责。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我们一共梳理了4套核心业务流程图，包括商品上架流转、用户购买、交易状态变更和卖家后台操作。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同时还完成了两个角色的用例分析，访客用户有2个用例，卖家有7个用例，一共9个用例，确保业务逻辑完整闭环。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第四项成果物是原型设计与交互说明，由陆贻辉负责。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我们一共完成了6个核心页面的低保真原型，包括前台的商品详情页和购买信息填写页，以及后台的登录页、商品管理页、意向订单页和密码修改页。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每个页面都明确了核心元素和交互逻辑，为后续的前端开发提供了清晰的设计依据。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第五项成果物是技术方案与数据库设计初稿，由我本人负责。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技术栈我们选择了比较成熟的Java + Spring Boot后端，前端用原生HTML、CSS和JavaScript，数据库用MySQL。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系统采用经典的三层B/S架构。数据库设计了3张核心表：卖家账号表、商品信息表和购买意向订单表，覆盖全部业务需求。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同时我们也设计了7个核心接口，为后续开发做好了准备。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以上就是我们第一阶段的全部工作成果汇报。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接下来我们将进入第二个迭代，主要进行前端页面开发、后端接口开发以及前后端联调，计划用两周时间完成。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感谢各位老师和同学的聆听，欢迎大家提出宝贵的意见和建议，我们会认真听取反馈，不断优化我们的项目。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240">
                <a:alpha val="100000"/>
              </a:srgbClr>
            </a:gs>
            <a:gs pos="100000">
              <a:srgbClr val="2D465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762000" cy="508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在线购物系统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68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第一次阶段评审汇报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8647">
            <a:off x="1016026" y="481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508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第10组· 软件2402</a:t>
            </a:r>
            <a:endParaRPr lang="en-US" sz="1100" dirty="0"/>
          </a:p>
        </p:txBody>
      </p:sp>
      <p:sp>
        <p:nvSpPr>
          <p:cNvPr id="7" name="AutoShape 7"/>
          <p:cNvSpPr txBox="1"/>
          <p:nvPr/>
        </p:nvSpPr>
        <p:spPr>
          <a:xfrm>
            <a:off x="1016000" y="5524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6A0AA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2026年10月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51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032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159000" y="2095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项目总体计划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159000" y="2540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迭代周期规划与当前进度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032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493000" y="2095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本次迭代目标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493000" y="2540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开发阶段目标与完成情况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342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3810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159000" y="3873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团队分工与成果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159000" y="4318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需求分析职责与 A—D 开发成果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3810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493000" y="38735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下一步计划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493000" y="43180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测试优化与交付安排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项目整体完成度约70%，整合与初步测试已完成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51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3175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1270000" y="2286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迭代一 · 已完成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7305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需求分析与方案设计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270000" y="3302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计划周期1.5周，需求梳理与方案设计已完成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508500" y="2032000"/>
            <a:ext cx="3175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4762500" y="2286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迭代二 · 进行中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762500" y="27305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功能开发与联调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762500" y="3302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计划周期2周，完成基础开发、模块整合与初步功能测试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2032000"/>
            <a:ext cx="3175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 txBox="1"/>
          <p:nvPr/>
        </p:nvSpPr>
        <p:spPr>
          <a:xfrm>
            <a:off x="8255000" y="2286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迭代三 · 待启动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255000" y="27305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测试优化与交付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255000" y="3302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计划周期1周，完成功能测试、Bug修复与项目最终交付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16000" y="4953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70%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016000" y="57785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整体完成度估算（截至10月14日）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31254">
            <a:off x="5016500" y="5645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5842000" y="5080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数据库及前后端基础搭建已完成。</a:t>
            </a:r>
            <a:endParaRPr lang="en-US" sz="1100"/>
          </a:p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已完成模块整合与初步测试，待修复问题并验收交付。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本次汇报涵盖基础开发、模块整合与初步测试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51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1016000" y="2032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651000" y="2032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需求与方案：已完成业务梳理，明确功能范围与分工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2921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51000" y="292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数据库：已完成 MySQL 建表与字段设计，整理 SQL 脚本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810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651000" y="381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前端：已完成基础搭建与接口对接，继续完善页面交互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84373">
            <a:off x="4699000" y="3422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6604000" y="2032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239000" y="2032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后端：已完成基础搭建并参与整合，继续完善业务逻辑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604000" y="2921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239000" y="292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整合与测试：D 已完成模块整合及初步功能测试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604000" y="3810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239000" y="3810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下一步：修复测试问题，进行回归测试与交付验收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207000"/>
            <a:ext cx="10160000" cy="635000"/>
          </a:xfrm>
          <a:prstGeom prst="roundRect">
            <a:avLst>
              <a:gd name="adj" fmla="val 8000"/>
            </a:avLst>
          </a:prstGeom>
          <a:solidFill>
            <a:srgbClr val="1F32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 txBox="1"/>
          <p:nvPr/>
        </p:nvSpPr>
        <p:spPr>
          <a:xfrm>
            <a:off x="1270000" y="53594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截至2026年10月14日：整体约70%，迭代二进行中，迭代三待启动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需求分析阶段分工：A / B / C / D 各负其责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51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1270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朱江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A · 项目经理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22917">
            <a:off x="1270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270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需求调研梳理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需求规格说明书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进度管理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任务排期</a:t>
            </a:r>
          </a:p>
        </p:txBody>
      </p:sp>
      <p:sp>
        <p:nvSpPr>
          <p:cNvPr id="9" name="AutoShape 9"/>
          <p:cNvSpPr/>
          <p:nvPr/>
        </p:nvSpPr>
        <p:spPr>
          <a:xfrm>
            <a:off x="3683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3937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杨接乔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937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B · 业务分析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2917">
            <a:off x="3937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3937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业务流程梳理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流程图绘制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角色用例分析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需求评审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604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孙俊杰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C · 技术负责人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2917">
            <a:off x="6604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6604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项目整体统筹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技术方案设计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数据库设计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架构规划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017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 txBox="1"/>
          <p:nvPr/>
        </p:nvSpPr>
        <p:spPr>
          <a:xfrm>
            <a:off x="9271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陆贻辉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9271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D · 产品设计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2917">
            <a:off x="9271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9271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页面原型设计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交互说明编写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用户体验优化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UI 规范制定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开发阶段分工：A 前端、B 后端、C 数据库、D 测试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85925">
            <a:off x="1016079" y="1517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1270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朱江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270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A · 前端开发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22917">
            <a:off x="1270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1270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买家页面开发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卖家后台页面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页面交互与校验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前端接口对接</a:t>
            </a:r>
          </a:p>
        </p:txBody>
      </p:sp>
      <p:sp>
        <p:nvSpPr>
          <p:cNvPr id="9" name="AutoShape 9"/>
          <p:cNvSpPr/>
          <p:nvPr/>
        </p:nvSpPr>
        <p:spPr>
          <a:xfrm>
            <a:off x="3683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3937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杨接乔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937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B · 后端开发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2917">
            <a:off x="3937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3937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Spring Boot 接口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商品业务开发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口令码逻辑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交易状态处理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604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孙俊杰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04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C · 数据库开发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2917">
            <a:off x="6604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6604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MySQL 建表与字段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SQL 脚本整理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测试数据准备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数据层对接支持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017000" y="2032000"/>
            <a:ext cx="2413000" cy="355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 txBox="1"/>
          <p:nvPr/>
        </p:nvSpPr>
        <p:spPr>
          <a:xfrm>
            <a:off x="9271000" y="23495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陆贻辉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9271000" y="2857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D · 整合与测试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2917">
            <a:off x="9271021" y="3359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 txBox="1"/>
          <p:nvPr/>
        </p:nvSpPr>
        <p:spPr>
          <a:xfrm>
            <a:off x="9271000" y="3556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已完成模块整合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已完成初步测试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问题记录与回归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项目演示与 PPT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 01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MVP需求清单与业务规则说明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778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负责人：朱江 · 需求分析阶段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1016079" y="227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66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商品核心规则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175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单商品流转：卖出后自动生成同款新商品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商品信息：名称、描述、图片、价格四要素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1016000" y="457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交易冻结规则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5080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提交购买自动冻结，防止超卖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交易成功：商品下架，自动补货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交易失败：解除冻结，恢复上架</a:t>
            </a:r>
          </a:p>
        </p:txBody>
      </p:sp>
      <p:cxnSp>
        <p:nvCxnSpPr>
          <p:cNvPr id="11" name="Connector 11"/>
          <p:cNvCxnSpPr/>
          <p:nvPr/>
        </p:nvCxnSpPr>
        <p:spPr>
          <a:xfrm rot="5387722">
            <a:off x="4826000" y="4438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7112000" y="2667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用户购买规则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112000" y="3175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免注册购买，浏览商品无门槛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确认购买时填写联系/收货信息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线下交易，系统不涉及在线支付</a:t>
            </a:r>
          </a:p>
        </p:txBody>
      </p:sp>
      <p:sp>
        <p:nvSpPr>
          <p:cNvPr id="14" name="AutoShape 14"/>
          <p:cNvSpPr txBox="1"/>
          <p:nvPr/>
        </p:nvSpPr>
        <p:spPr>
          <a:xfrm>
            <a:off x="7112000" y="457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卖家后台功能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112000" y="5080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发布商品、查看历史商品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查看意向购买人信息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手动冻结商品、修改登录密码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 02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在线购物系统MVP需求规格说明书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778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负责人：朱江 · 需求分析阶段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1016079" y="227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功能需求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175000"/>
            <a:ext cx="317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前台商品模块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交易状态模块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卖家后台模块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账号登录鉴权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46990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非功能需求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4699000" y="3175000"/>
            <a:ext cx="317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页面操作流程清晰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主流浏览器兼容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数据一致性保障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密码加密存储</a:t>
            </a:r>
          </a:p>
        </p:txBody>
      </p:sp>
      <p:sp>
        <p:nvSpPr>
          <p:cNvPr id="11" name="AutoShape 11"/>
          <p:cNvSpPr txBox="1"/>
          <p:nvPr/>
        </p:nvSpPr>
        <p:spPr>
          <a:xfrm>
            <a:off x="83820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验收标准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382000" y="3175000"/>
            <a:ext cx="317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购买后商品自动冻结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交易成功自动补货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交易失败自动解冻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密码修改可正常登录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5715000"/>
            <a:ext cx="10160000" cy="635000"/>
          </a:xfrm>
          <a:prstGeom prst="roundRect">
            <a:avLst>
              <a:gd name="adj" fmla="val 8000"/>
            </a:avLst>
          </a:prstGeom>
          <a:solidFill>
            <a:srgbClr val="1F324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270000" y="58674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需求文档作为开发与验收依据，后续按验收标准开展回归测试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 03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前端基础搭建与页面开发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778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负责人：朱江 · A 前端开发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1016079" y="227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66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前端基础已搭建，核心页面与交互继续完善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1270000" y="34925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前台页面（2个）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70000" y="38735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商品详情页、购买信息填写页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3302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4762500" y="34925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后台页面（4个）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762500" y="3873500"/>
            <a:ext cx="266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登录、商品管理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订单、密码修改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3302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8255000" y="34925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页面交互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255000" y="3873500"/>
            <a:ext cx="266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表单校验与状态展示持续完善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016000" y="495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开发与对接要点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016000" y="5461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完善买家页面和卖家后台页面，明确在售与冻结状态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完善表单必填项校验、操作反馈和错误提示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已参与接口对接与初步测试，继续修复交互问题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 04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后端基础搭建与业务开发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778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负责人：杨接乔 · B 后端开发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1016079" y="227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66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基础已搭建，业务逻辑继续开发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120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商品业务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0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商品发布与状态管理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售出后的补货逻辑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55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374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购买意向接口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4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接收联系与收货信息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创建购买意向订单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09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28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交易状态逻辑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28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冻结与解冻处理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成功 / 失败状态变更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63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 txBox="1"/>
          <p:nvPr/>
        </p:nvSpPr>
        <p:spPr>
          <a:xfrm>
            <a:off x="882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口令码功能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2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口令码生成与校验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配合交易状态处理</a:t>
            </a:r>
          </a:p>
        </p:txBody>
      </p:sp>
      <p:sp>
        <p:nvSpPr>
          <p:cNvPr id="20" name="AutoShape 20"/>
          <p:cNvSpPr txBox="1"/>
          <p:nvPr/>
        </p:nvSpPr>
        <p:spPr>
          <a:xfrm>
            <a:off x="1016000" y="508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当前状态：后端基础已搭建，已参与模块整合与初步测试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商品业务、口令码与交易逻辑由 B 负责。后续根据初步测试反馈修复问题，配合 D 开展回归测试。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 05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数据库已完成，已参与模块整合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802548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负责人：孙俊杰 · C 数据库开发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1016079" y="227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技术栈与当前状态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175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前端：HTML5 + CSS3 + JavaScript，基础已搭建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后端：Java + Spring Boot，基础已搭建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数据库：MySQL，建表与字段设计已完成</a:t>
            </a:r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SQL 脚本与测试数据用于后续对接验证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1016000" y="495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5461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B/S 三层架构。</a:t>
            </a:r>
            <a:endParaRPr lang="en-US" sz="1100"/>
          </a:p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数据库已参与前后端模块整合。</a:t>
            </a:r>
          </a:p>
        </p:txBody>
      </p:sp>
      <p:cxnSp>
        <p:nvCxnSpPr>
          <p:cNvPr id="11" name="Connector 11"/>
          <p:cNvCxnSpPr/>
          <p:nvPr/>
        </p:nvCxnSpPr>
        <p:spPr>
          <a:xfrm rot="5387722">
            <a:off x="4445000" y="4438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6731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数据库核心表（已完成）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731000" y="3238500"/>
          <a:ext cx="4826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24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24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seller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卖家账号表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product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商品信息表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purchase_order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购买意向订单表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AutoShape 14"/>
          <p:cNvSpPr txBox="1"/>
          <p:nvPr/>
        </p:nvSpPr>
        <p:spPr>
          <a:xfrm>
            <a:off x="6731000" y="584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C 提供数据层支持，配合 D 进行数据一致性验证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成果物 06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模块整合与初步功能测试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778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负责人：陆贻辉 · D 整合与测试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1016079" y="2279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CAD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016000" y="266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已完成模块整合及初步测试，继续推进回归与验收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 txBox="1"/>
          <p:nvPr/>
        </p:nvSpPr>
        <p:spPr>
          <a:xfrm>
            <a:off x="120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模块整合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0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前端页面与接口对接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后端连接 MySQL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55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374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买家流程测试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74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商品浏览与信息填写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购买意向提交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09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 txBox="1"/>
          <p:nvPr/>
        </p:nvSpPr>
        <p:spPr>
          <a:xfrm>
            <a:off x="628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交易逻辑测试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28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商品冻结与状态变更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成功补货、失败解冻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636000" y="32385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3CC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 txBox="1"/>
          <p:nvPr/>
        </p:nvSpPr>
        <p:spPr>
          <a:xfrm>
            <a:off x="8826500" y="3492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后台与口令码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26500" y="3937000"/>
            <a:ext cx="190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后台登录及商品管理</a:t>
            </a:r>
            <a:endParaRPr lang="en-US" sz="110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口令码与密码功能</a:t>
            </a:r>
          </a:p>
        </p:txBody>
      </p:sp>
      <p:sp>
        <p:nvSpPr>
          <p:cNvPr id="20" name="AutoShape 20"/>
          <p:cNvSpPr txBox="1"/>
          <p:nvPr/>
        </p:nvSpPr>
        <p:spPr>
          <a:xfrm>
            <a:off x="1016000" y="508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3240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阶段成果：模块整合、初步功能测试与问题整理已完成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D 负责统一记录测试问题，并协调 A、B、C 修复。下一步开展回归测试，完成演示准备与最终验收。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3240">
                <a:alpha val="100000"/>
              </a:srgbClr>
            </a:gs>
            <a:gs pos="100000">
              <a:srgbClr val="2D465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FCAD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152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下一步计划与致谢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667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后续测试与交付安排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302000"/>
            <a:ext cx="508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6666"/>
              </a:lnSpc>
              <a:defRPr/>
            </a:pPr>
            <a:pPr marL="0" indent="0" algn="l">
              <a:lnSpc>
                <a:spcPct val="166666"/>
              </a:lnSpc>
              <a:defRPr/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• A 朱江：完善页面交互，修复前端问题</a:t>
            </a:r>
            <a:endParaRPr lang="en-US" sz="1100"/>
          </a:p>
          <a:p>
            <a:pPr marL="0" indent="0" algn="l">
              <a:lnSpc>
                <a:spcPct val="166666"/>
              </a:lnSpc>
              <a:defRPr/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• B 杨接乔：完善业务逻辑，修复接口问题</a:t>
            </a:r>
          </a:p>
          <a:p>
            <a:pPr marL="0" indent="0" algn="l">
              <a:lnSpc>
                <a:spcPct val="166666"/>
              </a:lnSpc>
              <a:defRPr/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• C 孙俊杰：核对数据一致性，完善 SQL</a:t>
            </a:r>
          </a:p>
          <a:p>
            <a:pPr marL="0" indent="0" algn="l">
              <a:lnSpc>
                <a:spcPct val="166666"/>
              </a:lnSpc>
              <a:defRPr/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• D 陆贻辉：跟踪问题、回归测试与演示</a:t>
            </a:r>
          </a:p>
          <a:p>
            <a:pPr marL="0" indent="0" algn="l">
              <a:lnSpc>
                <a:spcPct val="166666"/>
              </a:lnSpc>
              <a:defRPr/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• 迭代三：完成测试优化、验收与最终交付</a:t>
            </a:r>
          </a:p>
        </p:txBody>
      </p:sp>
      <p:cxnSp>
        <p:nvCxnSpPr>
          <p:cNvPr id="6" name="Connector 6"/>
          <p:cNvCxnSpPr/>
          <p:nvPr/>
        </p:nvCxnSpPr>
        <p:spPr>
          <a:xfrm rot="5383629">
            <a:off x="5016500" y="3994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6858000" y="2667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CAD0C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858000" y="3302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感谢各位老师与同学的聆听，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欢迎提出宝贵意见与建议。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3CCD4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我们将认真听取反馈，持续优化项目。</a:t>
            </a:r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583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3CCD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609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6A0AA"/>
                </a:solidFill>
                <a:latin typeface="Noto Sans SC"/>
                <a:ea typeface="Noto Sans SC"/>
                <a:cs typeface="Noto Sans SC"/>
                <a:sym typeface="Noto Sans SC"/>
              </a:rPr>
              <a:t>孙俊杰组（第10组） · 软件2402 · 2026年10月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766</Words>
  <Application>Microsoft Office PowerPoint</Application>
  <PresentationFormat>宽屏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俊杰 孙</cp:lastModifiedBy>
  <cp:revision>2</cp:revision>
  <dcterms:modified xsi:type="dcterms:W3CDTF">2026-10-08T02:10:15Z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{"Label":"1","ContentProducer":"001191110102MACQD9K64010000","ProduceID":"7693875844763978958","ReservedCode1":"","ContentPropagator":"","PropagateID":"","ReservedCode2":""}</vt:lpwstr>
  </property>
</Properties>
</file>